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slide" Target="slides/slide3.xml"/>
<Relationship Id="rId5" Type="http://schemas.openxmlformats.org/officeDocument/2006/relationships/slide" Target="slides/slide4.xml"/>
<Relationship Id="rId6" Type="http://schemas.openxmlformats.org/officeDocument/2006/relationships/slide" Target="slides/slide5.xml"/>
<Relationship Id="rId7" Type="http://schemas.openxmlformats.org/officeDocument/2006/relationships/slide" Target="slides/slide6.xml"/>
</Relationships>
</file>

<file path=ppt/slideLayouts/_rels/slideLayout1.xml.rels><?xml version="1.0" encoding="UTF-8" standalone="yes"?>
<Relationships xmlns="http://schemas.openxmlformats.org/package/2006/relationships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showMasterSp="0">
  <p:cSld name="Blank">
    <p:spTree>
      <p:nvGrpSpPr>
        <p:cNvPr id="1" name=""/>
        <p:cNvGrpSpPr/>
        <p:nvPr/>
      </p:nvGrpSpPr>
      <p:grpSpPr>
        <a:xfrm>
          <a:off x="0" y="0"/>
          <a:ext cx="9144000" cy="685800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</a:xfrm>
      </p:grpSpPr>
    </p:spTree>
  </p:cSld>
  <p:sldLayoutIdLst>
    <p:sldLayoutId id="2147483649" r:id="rId1"/>
  </p:sldLayoutIdLst>
  <p:clrMap bg1="lt1" tx1="dk1" bg2="lt2" tx2="dk2" accent1="accent1" accent2="accent2" accent3="accent3" accent4="accent4" accent5="accent5" accent6="accent6" hlink="hlink" folHlink="folHlink"/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.png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2.png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3.png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4.png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 standalone="yes"?>
<p:sld xmlns:a="http://schemas.openxmlformats.org/drawingml/2006/main" xmlns:r="http://schemas.openxmlformats.org/officeDocument/2006/relationships" xmlns:p="http://schemas.openxmlformats.org/presentationml/2006/main">
  <p:cSld>
    <p:spTree>
      <p:nvGrpSpPr><p:cNvPr id="1" name=""/><p:cNvGrpSpPr/><p:nvPr/></p:nvGrpSpPr>
      <p:grpSpPr><a:xfrm><a:off x="0" y="0"/><a:ext cx="9144000" cy="6858000"/></a:xfrm></p:grpSpPr>
      <p:sp>
        <p:nvSpPr><p:cNvPr id="2" name="Title"/><p:cNvSpPr/><p:nvPr><p:ph type="ctrTitle"/></p:nvPr></p:nvSpPr>
        <p:spPr><a:xfrm><a:off x="1828800" y="1828800"/><a:ext cx="5486400" cy="914400"/></a:xfrm></p:spPr>
        <p:txBody><a:bodyPr anchor="ctr"/><a:lstStyle/><a:p><a:r><a:rPr lang="en-US" sz="7200" b="1"><a:solidFill><a:srgbClr val="FFFFFF"/></a:solidFill></a:rPr><a:t>All Punjab Divisions</a:t></a:r><a:endParaRPr lang="en-US"/></a:p></p:txBody>
      </p:sp>
      <p:sp>
        <p:nvSpPr><p:cNvPr id="3" name="Subtitle"/><p:cNvSpPr/><p:nvPr/></p:nvSpPr>
        <p:spPr><a:xfrm><a:off x="1828800" y="3048000"/><a:ext cx="5486400" cy="457200"/></a:xfrm></p:spPr>
        <p:txBody><a:bodyPr anchor="ctr"/><a:lstStyle/><a:p><a:r><a:rPr lang="en-US" sz="3600"><a:solidFill><a:srgbClr val="FFFFFF"/></a:solidFill></a:rPr><a:t>Camera Installation Progress Dashboard</a:t></a:r><a:endParaRPr lang="en-US"/></a:p></p:txBody>
      </p:sp>
      <p:sp>
        <p:nvSpPr><p:cNvPr id="4" name="Progress"/><p:cNvSpPr/><p:nvPr/></p:nvSpPr>
        <p:spPr><a:xfrm><a:off x="1828800" y="3962400"/><a:ext cx="5486400" cy="914400"/></a:xfrm></p:spPr>
        <p:txBody><a:bodyPr anchor="ctr"/><a:lstStyle/><a:p><a:r><a:rPr lang="en-US" sz="5600" b="1"><a:solidFill><a:srgbClr val="FFD700"/></a:solidFill></a:rPr><a:t>Overall Progress: 69%</a:t></a:r><a:endParaRPr lang="en-US"/></a:p></p:txBody>
      </p:sp>
      <p:sp>
        <p:nvSpPr><p:cNvPr id="5" name="Authority"/><p:cNvSpPr/><p:nvPr/></p:nvSpPr>
        <p:spPr><a:xfrm><a:off x="1828800" y="5181600"/><a:ext cx="5486400" cy="457200"/></a:xfrm></p:spPr>
        <p:txBody><a:bodyPr anchor="ctr"/><a:lstStyle/><a:p><a:r><a:rPr lang="en-US" sz="2800"><a:solidFill><a:srgbClr val="FFFFFF"/></a:solidFill></a:rPr><a:t>Punjab Safe City Authority</a:t></a:r><a:endParaRPr lang="en-US"/></a:p></p:txBody>
      </p:sp>
    </p:spTree>
    <p:bg><p:bgPr><a:solidFill><a:srgbClr val="4472C4"/></a:solidFill></a:bgPr></p:bg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>
                <a:solidFill>
                  <a:srgbClr val="2C3E50"/>
                </a:solidFill>
              </a:rPr>
              <a:t>Milestone Progress</a:t>
            </a:r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>
                <a:solidFill>
                  <a:srgbClr val="2C3E50"/>
                </a:solidFill>
              </a:rPr>
              <a:t>Phase Breakdown Analysis</a:t>
            </a:r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>
                <a:solidFill>
                  <a:srgbClr val="2C3E50"/>
                </a:solidFill>
              </a:rPr>
              <a:t>Phase Distribution Analysis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82880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>
                <a:solidFill>
                  <a:srgbClr val="2C3E50"/>
                </a:solidFill>
              </a:rPr>
              <a:t>Monthly Progress Timeline</a:t>
            </a: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82880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</a:xfrm>
      </p:grpSpPr>
      <p:sp>
        <p:nvSpPr>
          <p:cNvPr id="2" name="Title"/>
          <p:cNvSpPr/>
          <p:nvPr>
            <p:ph type="title"/>
          </p:nvPr>
        </p:nvSpPr>
        <p:spPr>
          <a:xfrm>
            <a:off x="457200" y="457200"/>
            <a:ext cx="8236800" cy="914400"/>
          </a:xfrm>
        </p:spPr>
        <p:txBody>
          <a:bodyPr/>
          <a:lstStyle/>
          <a:p>
            <a:r>
              <a:rPr lang="en-US" sz="4000" b="1">
                <a:solidFill>
                  <a:srgbClr val="2C3E50"/>
                </a:solidFill>
              </a:rPr>
              <a:t>Key Insights &amp; Recommendations</a:t>
            </a:r>
            <a:endParaRPr lang="en-US"/>
          </a:p>
        </p:txBody>
      </p:sp>
      <p:sp>
        <p:nvSpPr>
          <p:cNvPr id="3" name="Insight 1"/>
          <p:cNvSpPr/>
          <p:nvPr/>
        </p:nvSpPr>
        <p:spPr>
          <a:xfrm>
            <a:off x="914400" y="1828800"/>
            <a:ext cx="7315200" cy="457200"/>
          </a:xfrm>
        </p:spPr>
        <p:txBody>
          <a:bodyPr/>
          <a:lstStyle/>
          <a:p>
            <a:r>
              <a:rPr lang="en-US" sz="2400">
                <a:solidFill>
                  <a:srgbClr val="2C3E50"/>
                </a:solidFill>
              </a:rPr>
              <a:t>Overall Progress: 69% - Good</a:t>
            </a:r>
            <a:endParaRPr lang="en-US"/>
          </a:p>
        </p:txBody>
      </p:sp>
      <p:sp>
        <p:nvSpPr>
          <p:cNvPr id="4" name="Insight 2"/>
          <p:cNvSpPr/>
          <p:nvPr/>
        </p:nvSpPr>
        <p:spPr>
          <a:xfrm>
            <a:off x="914400" y="2628800"/>
            <a:ext cx="7315200" cy="457200"/>
          </a:xfrm>
        </p:spPr>
        <p:txBody>
          <a:bodyPr/>
          <a:lstStyle/>
          <a:p>
            <a:r>
              <a:rPr lang="en-US" sz="2400">
                <a:solidFill>
                  <a:srgbClr val="2C3E50"/>
                </a:solidFill>
              </a:rPr>
              <a:t>Completed Phases: 0 out of 6 phases fully completed</a:t>
            </a:r>
            <a:endParaRPr lang="en-US"/>
          </a:p>
        </p:txBody>
      </p:sp>
      <p:sp>
        <p:nvSpPr>
          <p:cNvPr id="5" name="Insight 3"/>
          <p:cNvSpPr/>
          <p:nvPr/>
        </p:nvSpPr>
        <p:spPr>
          <a:xfrm>
            <a:off x="914400" y="3428800"/>
            <a:ext cx="7315200" cy="457200"/>
          </a:xfrm>
        </p:spPr>
        <p:txBody>
          <a:bodyPr/>
          <a:lstStyle/>
          <a:p>
            <a:r>
              <a:rPr lang="en-US" sz="2400">
                <a:solidFill>
                  <a:srgbClr val="2C3E50"/>
                </a:solidFill>
              </a:rPr>
              <a:t>In Progress Phases: 5 phases actively under implementation</a:t>
            </a:r>
            <a:endParaRPr lang="en-US"/>
          </a:p>
        </p:txBody>
      </p:sp>
      <p:sp>
        <p:nvSpPr>
          <p:cNvPr id="6" name="Insight 4"/>
          <p:cNvSpPr/>
          <p:nvPr/>
        </p:nvSpPr>
        <p:spPr>
          <a:xfrm>
            <a:off x="914400" y="4228800"/>
            <a:ext cx="7315200" cy="457200"/>
          </a:xfrm>
        </p:spPr>
        <p:txBody>
          <a:bodyPr/>
          <a:lstStyle/>
          <a:p>
            <a:r>
              <a:rPr lang="en-US" sz="2400">
                <a:solidFill>
                  <a:srgbClr val="2C3E50"/>
                </a:solidFill>
              </a:rPr>
              <a:t>Early Stage Phases: 1 phases requiring attention and acceleration</a:t>
            </a:r>
            <a:endParaRPr lang="en-US"/>
          </a:p>
        </p:txBody>
      </p:sp>
      <p:sp>
        <p:nvSpPr>
          <p:cNvPr id="7" name="Insight 5"/>
          <p:cNvSpPr/>
          <p:nvPr/>
        </p:nvSpPr>
        <p:spPr>
          <a:xfrm>
            <a:off x="914400" y="5028800"/>
            <a:ext cx="7315200" cy="457200"/>
          </a:xfrm>
        </p:spPr>
        <p:txBody>
          <a:bodyPr/>
          <a:lstStyle/>
          <a:p>
            <a:r>
              <a:rPr lang="en-US" sz="2400">
                <a:solidFill>
                  <a:srgbClr val="2C3E50"/>
                </a:solidFill>
              </a:rPr>
              <a:t>Highest Progress Phase: 98% - Leading phase performance</a:t>
            </a:r>
            <a:endParaRPr lang="en-US"/>
          </a:p>
        </p:txBody>
      </p:sp>
      <p:sp>
        <p:nvSpPr>
          <p:cNvPr id="8" name="Insight 6"/>
          <p:cNvSpPr/>
          <p:nvPr/>
        </p:nvSpPr>
        <p:spPr>
          <a:xfrm>
            <a:off x="914400" y="5828800"/>
            <a:ext cx="7315200" cy="457200"/>
          </a:xfrm>
        </p:spPr>
        <p:txBody>
          <a:bodyPr/>
          <a:lstStyle/>
          <a:p>
            <a:r>
              <a:rPr lang="en-US" sz="2400">
                <a:solidFill>
                  <a:srgbClr val="2C3E50"/>
                </a:solidFill>
              </a:rPr>
              <a:t>Lowest Progress Phase: 36% - Requires immediate focus</a:t>
            </a:r>
            <a:endParaRPr lang="en-US"/>
          </a:p>
        </p:txBody>
      </p:sp>
    </p:spTree>
  </p:cSld>
</p:sld>
</file>